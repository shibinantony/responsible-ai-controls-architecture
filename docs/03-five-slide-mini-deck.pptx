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a4ee02b58948c7" /><Relationship Type="http://schemas.openxmlformats.org/officeDocument/2006/relationships/extended-properties" Target="/docProps/app.xml" Id="R77fc6b1d518640cc" /><Relationship Type="http://schemas.openxmlformats.org/officeDocument/2006/relationships/officeDocument" Target="/ppt/presentation.xml" Id="R3dc31280c5564c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18d650c5a4434"/>
  </p:sldMasterIdLst>
  <p:notesMasterIdLst>
    <p:notesMasterId xmlns:r="http://schemas.openxmlformats.org/officeDocument/2006/relationships" r:id="Rdfe23c9dfabb4c20"/>
  </p:notesMasterIdLst>
  <p:sldIdLst>
    <p:sldId xmlns:r="http://schemas.openxmlformats.org/officeDocument/2006/relationships" id="256" r:id="R54d804fffead4478"/>
    <p:sldId xmlns:r="http://schemas.openxmlformats.org/officeDocument/2006/relationships" id="257" r:id="R74b4a30b340b42ed"/>
    <p:sldId xmlns:r="http://schemas.openxmlformats.org/officeDocument/2006/relationships" id="258" r:id="R0a789fda7c234fef"/>
    <p:sldId xmlns:r="http://schemas.openxmlformats.org/officeDocument/2006/relationships" id="259" r:id="R92108bd121444bba"/>
    <p:sldId xmlns:r="http://schemas.openxmlformats.org/officeDocument/2006/relationships" id="260" r:id="Rd6497966a8af44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287c2409df4395" /><Relationship Type="http://schemas.openxmlformats.org/officeDocument/2006/relationships/slideMaster" Target="/ppt/slideMasters/slideMaster1.xml" Id="R30d18d650c5a4434" /><Relationship Type="http://schemas.openxmlformats.org/officeDocument/2006/relationships/notesMaster" Target="/ppt/notesMasters/notesMaster1.xml" Id="Rdfe23c9dfabb4c20" /><Relationship Type="http://schemas.openxmlformats.org/officeDocument/2006/relationships/presProps" Target="/ppt/presProps.xml" Id="R107120bc20504364" /><Relationship Type="http://schemas.openxmlformats.org/officeDocument/2006/relationships/tableStyles" Target="/ppt/tableStyles.xml" Id="R2520e23257654e53" /><Relationship Type="http://schemas.openxmlformats.org/officeDocument/2006/relationships/slide" Target="/ppt/slides/slide1.xml" Id="R54d804fffead4478" /><Relationship Type="http://schemas.openxmlformats.org/officeDocument/2006/relationships/slide" Target="/ppt/slides/slide2.xml" Id="R74b4a30b340b42ed" /><Relationship Type="http://schemas.openxmlformats.org/officeDocument/2006/relationships/slide" Target="/ppt/slides/slide3.xml" Id="R0a789fda7c234fef" /><Relationship Type="http://schemas.openxmlformats.org/officeDocument/2006/relationships/slide" Target="/ppt/slides/slide4.xml" Id="R92108bd121444bba" /><Relationship Type="http://schemas.openxmlformats.org/officeDocument/2006/relationships/slide" Target="/ppt/slides/slide5.xml" Id="Rd6497966a8af44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4573d2eecb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ecefca48ab412a" /><Relationship Type="http://schemas.openxmlformats.org/officeDocument/2006/relationships/notesMaster" Target="/ppt/notesMasters/notesMaster1.xml" Id="R58c8b58bc9d34f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3b19dc544442fa" /><Relationship Type="http://schemas.openxmlformats.org/officeDocument/2006/relationships/notesMaster" Target="/ppt/notesMasters/notesMaster1.xml" Id="R8f7acd47e82a43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cee9a3f0e64396" /><Relationship Type="http://schemas.openxmlformats.org/officeDocument/2006/relationships/notesMaster" Target="/ppt/notesMasters/notesMaster1.xml" Id="R961c30d29ac543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3e8021a43647f0" /><Relationship Type="http://schemas.openxmlformats.org/officeDocument/2006/relationships/notesMaster" Target="/ppt/notesMasters/notesMaster1.xml" Id="R46d9f760b98341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0fc61978cb4a69" /><Relationship Type="http://schemas.openxmlformats.org/officeDocument/2006/relationships/notesMaster" Target="/ppt/notesMasters/notesMaster1.xml" Id="R4cb11205019c40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f476ce88442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5c4924b4f44f0a" /><Relationship Type="http://schemas.openxmlformats.org/officeDocument/2006/relationships/slideLayout" Target="/ppt/slideLayouts/slideLayout1.xml" Id="R909c0a6ffd494c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c0a6ffd494c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296d3f31540df" /><Relationship Type="http://schemas.openxmlformats.org/officeDocument/2006/relationships/notesSlide" Target="/ppt/notesSlides/notesSlide1.xml" Id="R2373238fbe2246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5af7d13b445ae" /><Relationship Type="http://schemas.openxmlformats.org/officeDocument/2006/relationships/notesSlide" Target="/ppt/notesSlides/notesSlide2.xml" Id="Rac1f4513633a41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6302a75734ff3" /><Relationship Type="http://schemas.openxmlformats.org/officeDocument/2006/relationships/notesSlide" Target="/ppt/notesSlides/notesSlide3.xml" Id="R5402bc74f62b46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81c0d90c74fb6" /><Relationship Type="http://schemas.openxmlformats.org/officeDocument/2006/relationships/notesSlide" Target="/ppt/notesSlides/notesSlide4.xml" Id="R1e33bfb0334443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12060c9ba4c67" /><Relationship Type="http://schemas.openxmlformats.org/officeDocument/2006/relationships/notesSlide" Target="/ppt/notesSlides/notesSlide5.xml" Id="R583df976df8641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14E6B70-FD7B-4D26-88FB-C1DD704C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CXO POINT OF VIEW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3CA1F04-FFFE-4057-838D-45785C09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7628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Responsible AI must move from principles to controls.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04629E1-A706-41DA-8074-E8F0DF53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04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A practical model for turning AI ethics, risk, and governance expectations into enforceable controls, evidence, monitoring, and operating routines.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5A0706C7-EEE5-48A0-B61C-73A85C27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cover-panel">
            <a:extLst xmlns:a="http://schemas.openxmlformats.org/drawingml/2006/main">
              <a:ext uri="{FF2B5EF4-FFF2-40B4-BE49-F238E27FC236}">
                <a16:creationId xmlns:a16="http://schemas.microsoft.com/office/drawing/2014/main" id="{46ABBD47-4EA2-4DB0-AF64-520BDC15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76300"/>
            <a:ext cx="261937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6" name="cover-panel-title">
            <a:extLst xmlns:a="http://schemas.openxmlformats.org/drawingml/2006/main">
              <a:ext uri="{FF2B5EF4-FFF2-40B4-BE49-F238E27FC236}">
                <a16:creationId xmlns:a16="http://schemas.microsoft.com/office/drawing/2014/main" id="{B8CD4B9A-51DC-4194-8D74-042A0153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2382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The execution gap</a:t>
            </a:r>
          </a:p>
        </p:txBody>
      </p:sp>
      <p:sp>
        <p:nvSpPr>
          <p:cNvPr id="7" name="cover-panel-bullets-dot-0">
            <a:extLst xmlns:a="http://schemas.openxmlformats.org/drawingml/2006/main">
              <a:ext uri="{FF2B5EF4-FFF2-40B4-BE49-F238E27FC236}">
                <a16:creationId xmlns:a16="http://schemas.microsoft.com/office/drawing/2014/main" id="{BA5E1C3E-B086-4AA3-9F5F-BF398DEB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8" name="cover-panel-bullets-0">
            <a:extLst xmlns:a="http://schemas.openxmlformats.org/drawingml/2006/main">
              <a:ext uri="{FF2B5EF4-FFF2-40B4-BE49-F238E27FC236}">
                <a16:creationId xmlns:a16="http://schemas.microsoft.com/office/drawing/2014/main" id="{297D2B49-1B6E-4428-B1E8-85C63D27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00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Principles are stated.</a:t>
            </a:r>
          </a:p>
        </p:txBody>
      </p:sp>
      <p:sp>
        <p:nvSpPr>
          <p:cNvPr id="9" name="cover-panel-bullets-dot-1">
            <a:extLst xmlns:a="http://schemas.openxmlformats.org/drawingml/2006/main">
              <a:ext uri="{FF2B5EF4-FFF2-40B4-BE49-F238E27FC236}">
                <a16:creationId xmlns:a16="http://schemas.microsoft.com/office/drawing/2014/main" id="{3E1806C2-C77E-4988-B51A-71631365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90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cover-panel-bullets-1">
            <a:extLst xmlns:a="http://schemas.openxmlformats.org/drawingml/2006/main">
              <a:ext uri="{FF2B5EF4-FFF2-40B4-BE49-F238E27FC236}">
                <a16:creationId xmlns:a16="http://schemas.microsoft.com/office/drawing/2014/main" id="{D9EF7EFE-6124-4ABB-8325-7C38C43F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908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Controls are uneven.</a:t>
            </a:r>
          </a:p>
        </p:txBody>
      </p:sp>
      <p:sp>
        <p:nvSpPr>
          <p:cNvPr id="11" name="cover-panel-bullets-dot-2">
            <a:extLst xmlns:a="http://schemas.openxmlformats.org/drawingml/2006/main">
              <a:ext uri="{FF2B5EF4-FFF2-40B4-BE49-F238E27FC236}">
                <a16:creationId xmlns:a16="http://schemas.microsoft.com/office/drawing/2014/main" id="{B6FC510B-7E11-41FE-A995-493EBCC7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81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2" name="cover-panel-bullets-2">
            <a:extLst xmlns:a="http://schemas.openxmlformats.org/drawingml/2006/main">
              <a:ext uri="{FF2B5EF4-FFF2-40B4-BE49-F238E27FC236}">
                <a16:creationId xmlns:a16="http://schemas.microsoft.com/office/drawing/2014/main" id="{ECDAD85B-2F96-4751-96D2-D3D66481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81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Evidence is thin.</a:t>
            </a:r>
          </a:p>
        </p:txBody>
      </p:sp>
      <p:sp>
        <p:nvSpPr>
          <p:cNvPr id="13" name="cover-panel-bullets-dot-3">
            <a:extLst xmlns:a="http://schemas.openxmlformats.org/drawingml/2006/main">
              <a:ext uri="{FF2B5EF4-FFF2-40B4-BE49-F238E27FC236}">
                <a16:creationId xmlns:a16="http://schemas.microsoft.com/office/drawing/2014/main" id="{63B2D4CD-D358-4241-9CF4-0B9112F0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719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4" name="cover-panel-bullets-3">
            <a:extLst xmlns:a="http://schemas.openxmlformats.org/drawingml/2006/main">
              <a:ext uri="{FF2B5EF4-FFF2-40B4-BE49-F238E27FC236}">
                <a16:creationId xmlns:a16="http://schemas.microsoft.com/office/drawing/2014/main" id="{3FDDBF90-F81A-4ABB-815C-077711A0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719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Day 2 ownership is unclear.</a:t>
            </a:r>
          </a:p>
        </p:txBody>
      </p:sp>
      <p:sp>
        <p:nvSpPr>
          <p:cNvPr id="15" name="footer-1">
            <a:extLst xmlns:a="http://schemas.openxmlformats.org/drawingml/2006/main">
              <a:ext uri="{FF2B5EF4-FFF2-40B4-BE49-F238E27FC236}">
                <a16:creationId xmlns:a16="http://schemas.microsoft.com/office/drawing/2014/main" id="{B837D9DC-D2DB-4F6D-8B84-7BBF8992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Responsible AI Controls Architecture  |  1/5</a:t>
            </a:r>
          </a:p>
        </p:txBody>
      </p:sp>
    </p:spTree>
    <p:extLst>
      <p:ext uri="{BB962C8B-B14F-4D97-AF65-F5344CB8AC3E}">
        <p14:creationId xmlns:p14="http://schemas.microsoft.com/office/powerpoint/2010/main" val="563055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062396E5-B2D2-4A17-A590-D5AF1DFE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</a:defRPr>
            </a:pPr>
            <a:r>
              <a:rPr sz="1125" b="1">
                <a:solidFill>
                  <a:srgbClr val="5B6472"/>
                </a:solidFill>
              </a:rPr>
              <a:t>RESPONSIBLE AI CONTROLS ARCHITECTURE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CC10348-2639-49D0-94E1-7F9F3F8C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five-layer model makes Responsible AI executable.</a:t>
            </a:r>
          </a:p>
        </p:txBody>
      </p:sp>
      <p:sp>
        <p:nvSpPr>
          <p:cNvPr id="3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FEF533D3-70FE-4ED5-ABFB-9EF383A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Each layer converts intent into a specific control artifact.</a:t>
            </a:r>
          </a:p>
        </p:txBody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06D0F1E5-1E99-4237-95BD-9FDF8D02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Responsible AI Controls Architecture  |  2/5</a:t>
            </a:r>
          </a:p>
        </p:txBody>
      </p:sp>
      <p:sp>
        <p:nvSpPr>
          <p:cNvPr id="5" name="layer-box-0">
            <a:extLst xmlns:a="http://schemas.openxmlformats.org/drawingml/2006/main">
              <a:ext uri="{FF2B5EF4-FFF2-40B4-BE49-F238E27FC236}">
                <a16:creationId xmlns:a16="http://schemas.microsoft.com/office/drawing/2014/main" id="{6CDF27C4-E7C6-46FB-B7C6-011C79E3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9526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layer-num-0">
            <a:extLst xmlns:a="http://schemas.openxmlformats.org/drawingml/2006/main">
              <a:ext uri="{FF2B5EF4-FFF2-40B4-BE49-F238E27FC236}">
                <a16:creationId xmlns:a16="http://schemas.microsoft.com/office/drawing/2014/main" id="{E55315B9-A384-4E9D-B60C-6DB5167F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765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layer-label-0">
            <a:extLst xmlns:a="http://schemas.openxmlformats.org/drawingml/2006/main">
              <a:ext uri="{FF2B5EF4-FFF2-40B4-BE49-F238E27FC236}">
                <a16:creationId xmlns:a16="http://schemas.microsoft.com/office/drawing/2014/main" id="{615EFE1C-94EE-4E59-9285-FA0ECA81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Risk classification</a:t>
            </a:r>
          </a:p>
        </p:txBody>
      </p:sp>
      <p:sp>
        <p:nvSpPr>
          <p:cNvPr id="8" name="layer-output-0">
            <a:extLst xmlns:a="http://schemas.openxmlformats.org/drawingml/2006/main">
              <a:ext uri="{FF2B5EF4-FFF2-40B4-BE49-F238E27FC236}">
                <a16:creationId xmlns:a16="http://schemas.microsoft.com/office/drawing/2014/main" id="{AD20337A-43C4-4549-8008-2A027292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609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472"/>
                </a:solidFill>
              </a:defRPr>
            </a:pPr>
            <a:r>
              <a:rPr sz="1088" b="0">
                <a:solidFill>
                  <a:srgbClr val="5B6472"/>
                </a:solidFill>
              </a:rPr>
              <a:t>Use-case tiering by consequence of error</a:t>
            </a:r>
          </a:p>
        </p:txBody>
      </p:sp>
      <p:sp>
        <p:nvSpPr>
          <p:cNvPr id="9" name="layer-box-1">
            <a:extLst xmlns:a="http://schemas.openxmlformats.org/drawingml/2006/main">
              <a:ext uri="{FF2B5EF4-FFF2-40B4-BE49-F238E27FC236}">
                <a16:creationId xmlns:a16="http://schemas.microsoft.com/office/drawing/2014/main" id="{1CD8CAC0-E8DE-461E-A40A-CE5F292C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05125"/>
            <a:ext cx="19526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layer-num-1">
            <a:extLst xmlns:a="http://schemas.openxmlformats.org/drawingml/2006/main">
              <a:ext uri="{FF2B5EF4-FFF2-40B4-BE49-F238E27FC236}">
                <a16:creationId xmlns:a16="http://schemas.microsoft.com/office/drawing/2014/main" id="{198B03D1-9D8F-4715-BC51-BE69A61F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765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layer-label-1">
            <a:extLst xmlns:a="http://schemas.openxmlformats.org/drawingml/2006/main">
              <a:ext uri="{FF2B5EF4-FFF2-40B4-BE49-F238E27FC236}">
                <a16:creationId xmlns:a16="http://schemas.microsoft.com/office/drawing/2014/main" id="{60CC2A84-82EE-4F33-AE4F-0AB45705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1947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Execution boundary</a:t>
            </a:r>
          </a:p>
        </p:txBody>
      </p:sp>
      <p:sp>
        <p:nvSpPr>
          <p:cNvPr id="12" name="layer-output-1">
            <a:extLst xmlns:a="http://schemas.openxmlformats.org/drawingml/2006/main">
              <a:ext uri="{FF2B5EF4-FFF2-40B4-BE49-F238E27FC236}">
                <a16:creationId xmlns:a16="http://schemas.microsoft.com/office/drawing/2014/main" id="{1A5D5447-B3D0-409C-A300-E2BC0977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71925"/>
            <a:ext cx="1609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472"/>
                </a:solidFill>
              </a:defRPr>
            </a:pPr>
            <a:r>
              <a:rPr sz="1088" b="0">
                <a:solidFill>
                  <a:srgbClr val="5B6472"/>
                </a:solidFill>
              </a:rPr>
              <a:t>What AI can decide, draft, trigger, or automate</a:t>
            </a:r>
          </a:p>
        </p:txBody>
      </p:sp>
      <p:sp>
        <p:nvSpPr>
          <p:cNvPr id="13" name="layer-box-2">
            <a:extLst xmlns:a="http://schemas.openxmlformats.org/drawingml/2006/main">
              <a:ext uri="{FF2B5EF4-FFF2-40B4-BE49-F238E27FC236}">
                <a16:creationId xmlns:a16="http://schemas.microsoft.com/office/drawing/2014/main" id="{DA12A526-3BF2-4847-A458-BA233003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05125"/>
            <a:ext cx="19526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layer-num-2">
            <a:extLst xmlns:a="http://schemas.openxmlformats.org/drawingml/2006/main">
              <a:ext uri="{FF2B5EF4-FFF2-40B4-BE49-F238E27FC236}">
                <a16:creationId xmlns:a16="http://schemas.microsoft.com/office/drawing/2014/main" id="{1F9E2BBA-7969-4F6E-8ED8-D91B4330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765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5" name="layer-label-2">
            <a:extLst xmlns:a="http://schemas.openxmlformats.org/drawingml/2006/main">
              <a:ext uri="{FF2B5EF4-FFF2-40B4-BE49-F238E27FC236}">
                <a16:creationId xmlns:a16="http://schemas.microsoft.com/office/drawing/2014/main" id="{1BD8A031-F605-4EF8-8EAC-3400FF8D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1947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Control design</a:t>
            </a:r>
          </a:p>
        </p:txBody>
      </p:sp>
      <p:sp>
        <p:nvSpPr>
          <p:cNvPr id="16" name="layer-output-2">
            <a:extLst xmlns:a="http://schemas.openxmlformats.org/drawingml/2006/main">
              <a:ext uri="{FF2B5EF4-FFF2-40B4-BE49-F238E27FC236}">
                <a16:creationId xmlns:a16="http://schemas.microsoft.com/office/drawing/2014/main" id="{26DF274F-FE7A-4F30-A47D-1EEEF947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71925"/>
            <a:ext cx="1609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472"/>
                </a:solidFill>
              </a:defRPr>
            </a:pPr>
            <a:r>
              <a:rPr sz="1088" b="0">
                <a:solidFill>
                  <a:srgbClr val="5B6472"/>
                </a:solidFill>
              </a:rPr>
              <a:t>Guardrails, approvals, validation, and escalation</a:t>
            </a:r>
          </a:p>
        </p:txBody>
      </p:sp>
      <p:sp>
        <p:nvSpPr>
          <p:cNvPr id="17" name="layer-box-3">
            <a:extLst xmlns:a="http://schemas.openxmlformats.org/drawingml/2006/main">
              <a:ext uri="{FF2B5EF4-FFF2-40B4-BE49-F238E27FC236}">
                <a16:creationId xmlns:a16="http://schemas.microsoft.com/office/drawing/2014/main" id="{2ADFAE5D-7BCA-463B-B377-22FCFD6C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05125"/>
            <a:ext cx="19526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layer-num-3">
            <a:extLst xmlns:a="http://schemas.openxmlformats.org/drawingml/2006/main">
              <a:ext uri="{FF2B5EF4-FFF2-40B4-BE49-F238E27FC236}">
                <a16:creationId xmlns:a16="http://schemas.microsoft.com/office/drawing/2014/main" id="{7BEB2984-FEEE-4A85-B262-E7DAF560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765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9" name="layer-label-3">
            <a:extLst xmlns:a="http://schemas.openxmlformats.org/drawingml/2006/main">
              <a:ext uri="{FF2B5EF4-FFF2-40B4-BE49-F238E27FC236}">
                <a16:creationId xmlns:a16="http://schemas.microsoft.com/office/drawing/2014/main" id="{545AFDE8-4D21-4E86-A4DF-EEDF4DB0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1947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Evidence capture</a:t>
            </a:r>
          </a:p>
        </p:txBody>
      </p:sp>
      <p:sp>
        <p:nvSpPr>
          <p:cNvPr id="20" name="layer-output-3">
            <a:extLst xmlns:a="http://schemas.openxmlformats.org/drawingml/2006/main">
              <a:ext uri="{FF2B5EF4-FFF2-40B4-BE49-F238E27FC236}">
                <a16:creationId xmlns:a16="http://schemas.microsoft.com/office/drawing/2014/main" id="{9CAE4265-5356-4465-87CC-9FB24453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71925"/>
            <a:ext cx="1609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472"/>
                </a:solidFill>
              </a:defRPr>
            </a:pPr>
            <a:r>
              <a:rPr sz="1088" b="0">
                <a:solidFill>
                  <a:srgbClr val="5B6472"/>
                </a:solidFill>
              </a:rPr>
              <a:t>Prompt, response, sources, override, approval, replay</a:t>
            </a:r>
          </a:p>
        </p:txBody>
      </p:sp>
      <p:sp>
        <p:nvSpPr>
          <p:cNvPr id="21" name="layer-box-4">
            <a:extLst xmlns:a="http://schemas.openxmlformats.org/drawingml/2006/main">
              <a:ext uri="{FF2B5EF4-FFF2-40B4-BE49-F238E27FC236}">
                <a16:creationId xmlns:a16="http://schemas.microsoft.com/office/drawing/2014/main" id="{730429F6-3321-43AA-8D33-55CF7608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05125"/>
            <a:ext cx="19526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layer-num-4">
            <a:extLst xmlns:a="http://schemas.openxmlformats.org/drawingml/2006/main">
              <a:ext uri="{FF2B5EF4-FFF2-40B4-BE49-F238E27FC236}">
                <a16:creationId xmlns:a16="http://schemas.microsoft.com/office/drawing/2014/main" id="{82631C66-54AC-471B-9DD4-7A6B4EAF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3" name="layer-label-4">
            <a:extLst xmlns:a="http://schemas.openxmlformats.org/drawingml/2006/main">
              <a:ext uri="{FF2B5EF4-FFF2-40B4-BE49-F238E27FC236}">
                <a16:creationId xmlns:a16="http://schemas.microsoft.com/office/drawing/2014/main" id="{D03D713F-9852-4946-B79A-830D7153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1947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Day 2 monitoring</a:t>
            </a:r>
          </a:p>
        </p:txBody>
      </p:sp>
      <p:sp>
        <p:nvSpPr>
          <p:cNvPr id="24" name="layer-output-4">
            <a:extLst xmlns:a="http://schemas.openxmlformats.org/drawingml/2006/main">
              <a:ext uri="{FF2B5EF4-FFF2-40B4-BE49-F238E27FC236}">
                <a16:creationId xmlns:a16="http://schemas.microsoft.com/office/drawing/2014/main" id="{688456B7-99EC-4E4F-8529-468974D2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71925"/>
            <a:ext cx="1609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472"/>
                </a:solidFill>
              </a:defRPr>
            </a:pPr>
            <a:r>
              <a:rPr sz="1088" b="0">
                <a:solidFill>
                  <a:srgbClr val="5B6472"/>
                </a:solidFill>
              </a:rPr>
              <a:t>Drift, unsafe output, bypass, vendor change, incidents</a:t>
            </a:r>
          </a:p>
        </p:txBody>
      </p:sp>
    </p:spTree>
    <p:extLst>
      <p:ext uri="{BB962C8B-B14F-4D97-AF65-F5344CB8AC3E}">
        <p14:creationId xmlns:p14="http://schemas.microsoft.com/office/powerpoint/2010/main" val="1198579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eyebrow">
            <a:extLst xmlns:a="http://schemas.openxmlformats.org/drawingml/2006/main">
              <a:ext uri="{FF2B5EF4-FFF2-40B4-BE49-F238E27FC236}">
                <a16:creationId xmlns:a16="http://schemas.microsoft.com/office/drawing/2014/main" id="{5666A92E-F332-4B18-8E75-FF778F06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</a:defRPr>
            </a:pPr>
            <a:r>
              <a:rPr sz="1125" b="1">
                <a:solidFill>
                  <a:srgbClr val="5B6472"/>
                </a:solidFill>
              </a:rPr>
              <a:t>RESPONSIBLE AI CONTROLS ARCHITECTURE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501279E-BF70-438A-9528-8FC69F6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Controls must be proportional to consequence of error.</a:t>
            </a:r>
          </a:p>
        </p:txBody>
      </p:sp>
      <p:sp>
        <p:nvSpPr>
          <p:cNvPr id="3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5F2399A4-66E1-468B-8BF7-81E070DA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A low-impact assistant and a customer-facing decision workflow should not carry the same control burden.</a:t>
            </a:r>
          </a:p>
        </p:txBody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FD9A9E37-E61E-4798-937D-F17F73F2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Responsible AI Controls Architecture  |  3/5</a:t>
            </a:r>
          </a:p>
        </p:txBody>
      </p:sp>
      <p:sp>
        <p:nvSpPr>
          <p:cNvPr id="5" name="risk-table-bg">
            <a:extLst xmlns:a="http://schemas.openxmlformats.org/drawingml/2006/main">
              <a:ext uri="{FF2B5EF4-FFF2-40B4-BE49-F238E27FC236}">
                <a16:creationId xmlns:a16="http://schemas.microsoft.com/office/drawing/2014/main" id="{9194B58B-8DC3-4041-A859-4136EDC6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6299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isk-head-0">
            <a:extLst xmlns:a="http://schemas.openxmlformats.org/drawingml/2006/main">
              <a:ext uri="{FF2B5EF4-FFF2-40B4-BE49-F238E27FC236}">
                <a16:creationId xmlns:a16="http://schemas.microsoft.com/office/drawing/2014/main" id="{018EEDB9-C718-4451-B86F-2AFD0EAC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019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risk-head-text-0">
            <a:extLst xmlns:a="http://schemas.openxmlformats.org/drawingml/2006/main">
              <a:ext uri="{FF2B5EF4-FFF2-40B4-BE49-F238E27FC236}">
                <a16:creationId xmlns:a16="http://schemas.microsoft.com/office/drawing/2014/main" id="{A9A2A440-9476-4EA0-A613-D937C2F0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Risk tier</a:t>
            </a:r>
          </a:p>
        </p:txBody>
      </p:sp>
      <p:sp>
        <p:nvSpPr>
          <p:cNvPr id="8" name="risk-head-1">
            <a:extLst xmlns:a="http://schemas.openxmlformats.org/drawingml/2006/main">
              <a:ext uri="{FF2B5EF4-FFF2-40B4-BE49-F238E27FC236}">
                <a16:creationId xmlns:a16="http://schemas.microsoft.com/office/drawing/2014/main" id="{B22C8545-145C-4C6C-8347-B66402D7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risk-head-text-1">
            <a:extLst xmlns:a="http://schemas.openxmlformats.org/drawingml/2006/main">
              <a:ext uri="{FF2B5EF4-FFF2-40B4-BE49-F238E27FC236}">
                <a16:creationId xmlns:a16="http://schemas.microsoft.com/office/drawing/2014/main" id="{1D5A7FF4-3DA8-415B-9A6C-0F3B93E2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Typical use case</a:t>
            </a:r>
          </a:p>
        </p:txBody>
      </p:sp>
      <p:sp>
        <p:nvSpPr>
          <p:cNvPr id="10" name="risk-head-2">
            <a:extLst xmlns:a="http://schemas.openxmlformats.org/drawingml/2006/main">
              <a:ext uri="{FF2B5EF4-FFF2-40B4-BE49-F238E27FC236}">
                <a16:creationId xmlns:a16="http://schemas.microsoft.com/office/drawing/2014/main" id="{ABE3FAF6-FF7A-4564-B4CA-848F74F6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52750"/>
            <a:ext cx="548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risk-head-text-2">
            <a:extLst xmlns:a="http://schemas.openxmlformats.org/drawingml/2006/main">
              <a:ext uri="{FF2B5EF4-FFF2-40B4-BE49-F238E27FC236}">
                <a16:creationId xmlns:a16="http://schemas.microsoft.com/office/drawing/2014/main" id="{840C4EDE-8BB9-4790-BE70-BF0A03B1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Control posture</a:t>
            </a:r>
          </a:p>
        </p:txBody>
      </p:sp>
      <p:sp>
        <p:nvSpPr>
          <p:cNvPr id="12" name="risk-cell-0-0">
            <a:extLst xmlns:a="http://schemas.openxmlformats.org/drawingml/2006/main">
              <a:ext uri="{FF2B5EF4-FFF2-40B4-BE49-F238E27FC236}">
                <a16:creationId xmlns:a16="http://schemas.microsoft.com/office/drawing/2014/main" id="{9F89F9A2-6892-438A-A92D-56518AC4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01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isk-text-0-0">
            <a:extLst xmlns:a="http://schemas.openxmlformats.org/drawingml/2006/main">
              <a:ext uri="{FF2B5EF4-FFF2-40B4-BE49-F238E27FC236}">
                <a16:creationId xmlns:a16="http://schemas.microsoft.com/office/drawing/2014/main" id="{A7E59230-3F38-44CC-8F42-1EC87584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Low</a:t>
            </a:r>
          </a:p>
        </p:txBody>
      </p:sp>
      <p:sp>
        <p:nvSpPr>
          <p:cNvPr id="14" name="risk-cell-0-1">
            <a:extLst xmlns:a="http://schemas.openxmlformats.org/drawingml/2006/main">
              <a:ext uri="{FF2B5EF4-FFF2-40B4-BE49-F238E27FC236}">
                <a16:creationId xmlns:a16="http://schemas.microsoft.com/office/drawing/2014/main" id="{87B6BAFC-25EC-4B71-BF29-F72F2221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86150"/>
            <a:ext cx="3124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risk-text-0-1">
            <a:extLst xmlns:a="http://schemas.openxmlformats.org/drawingml/2006/main">
              <a:ext uri="{FF2B5EF4-FFF2-40B4-BE49-F238E27FC236}">
                <a16:creationId xmlns:a16="http://schemas.microsoft.com/office/drawing/2014/main" id="{4CC92C20-D1C3-4AED-922A-3EDA3488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385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Internal productivity</a:t>
            </a:r>
          </a:p>
        </p:txBody>
      </p:sp>
      <p:sp>
        <p:nvSpPr>
          <p:cNvPr id="16" name="risk-cell-0-2">
            <a:extLst xmlns:a="http://schemas.openxmlformats.org/drawingml/2006/main">
              <a:ext uri="{FF2B5EF4-FFF2-40B4-BE49-F238E27FC236}">
                <a16:creationId xmlns:a16="http://schemas.microsoft.com/office/drawing/2014/main" id="{B82B5785-07BA-4B12-A2A6-D3644601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86150"/>
            <a:ext cx="5486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risk-text-0-2">
            <a:extLst xmlns:a="http://schemas.openxmlformats.org/drawingml/2006/main">
              <a:ext uri="{FF2B5EF4-FFF2-40B4-BE49-F238E27FC236}">
                <a16:creationId xmlns:a16="http://schemas.microsoft.com/office/drawing/2014/main" id="{3A2F9FF2-F347-4097-A014-64F09D77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Privacy, quality checks, user guidance</a:t>
            </a:r>
          </a:p>
        </p:txBody>
      </p:sp>
      <p:sp>
        <p:nvSpPr>
          <p:cNvPr id="18" name="risk-cell-1-0">
            <a:extLst xmlns:a="http://schemas.openxmlformats.org/drawingml/2006/main">
              <a:ext uri="{FF2B5EF4-FFF2-40B4-BE49-F238E27FC236}">
                <a16:creationId xmlns:a16="http://schemas.microsoft.com/office/drawing/2014/main" id="{CA5BB057-6A68-4314-996E-161015F5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01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risk-text-1-0">
            <a:extLst xmlns:a="http://schemas.openxmlformats.org/drawingml/2006/main">
              <a:ext uri="{FF2B5EF4-FFF2-40B4-BE49-F238E27FC236}">
                <a16:creationId xmlns:a16="http://schemas.microsoft.com/office/drawing/2014/main" id="{247E5E7E-7DCC-4273-81E2-D67C3FBD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Moderate</a:t>
            </a:r>
          </a:p>
        </p:txBody>
      </p:sp>
      <p:sp>
        <p:nvSpPr>
          <p:cNvPr id="20" name="risk-cell-1-1">
            <a:extLst xmlns:a="http://schemas.openxmlformats.org/drawingml/2006/main">
              <a:ext uri="{FF2B5EF4-FFF2-40B4-BE49-F238E27FC236}">
                <a16:creationId xmlns:a16="http://schemas.microsoft.com/office/drawing/2014/main" id="{0188A99B-E974-439E-88BD-73F4BDA0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95750"/>
            <a:ext cx="3124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risk-text-1-1">
            <a:extLst xmlns:a="http://schemas.openxmlformats.org/drawingml/2006/main">
              <a:ext uri="{FF2B5EF4-FFF2-40B4-BE49-F238E27FC236}">
                <a16:creationId xmlns:a16="http://schemas.microsoft.com/office/drawing/2014/main" id="{FA335777-F862-4657-AF17-EDD94078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481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Staff or adviser recommendation support</a:t>
            </a:r>
          </a:p>
        </p:txBody>
      </p:sp>
      <p:sp>
        <p:nvSpPr>
          <p:cNvPr id="22" name="risk-cell-1-2">
            <a:extLst xmlns:a="http://schemas.openxmlformats.org/drawingml/2006/main">
              <a:ext uri="{FF2B5EF4-FFF2-40B4-BE49-F238E27FC236}">
                <a16:creationId xmlns:a16="http://schemas.microsoft.com/office/drawing/2014/main" id="{F59AB1AB-1470-4FFC-86BF-3A63A57E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95750"/>
            <a:ext cx="5486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risk-text-1-2">
            <a:extLst xmlns:a="http://schemas.openxmlformats.org/drawingml/2006/main">
              <a:ext uri="{FF2B5EF4-FFF2-40B4-BE49-F238E27FC236}">
                <a16:creationId xmlns:a16="http://schemas.microsoft.com/office/drawing/2014/main" id="{388BEB5F-76B3-4793-AE41-4EE30C0A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481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Grounding, review triggers, evidence capture</a:t>
            </a:r>
          </a:p>
        </p:txBody>
      </p:sp>
      <p:sp>
        <p:nvSpPr>
          <p:cNvPr id="24" name="risk-cell-2-0">
            <a:extLst xmlns:a="http://schemas.openxmlformats.org/drawingml/2006/main">
              <a:ext uri="{FF2B5EF4-FFF2-40B4-BE49-F238E27FC236}">
                <a16:creationId xmlns:a16="http://schemas.microsoft.com/office/drawing/2014/main" id="{08D05B44-6216-431D-8C3E-73160E3A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01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risk-text-2-0">
            <a:extLst xmlns:a="http://schemas.openxmlformats.org/drawingml/2006/main">
              <a:ext uri="{FF2B5EF4-FFF2-40B4-BE49-F238E27FC236}">
                <a16:creationId xmlns:a16="http://schemas.microsoft.com/office/drawing/2014/main" id="{ECBCF36E-A6E1-4E90-ACEA-1A41CE63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High</a:t>
            </a:r>
          </a:p>
        </p:txBody>
      </p:sp>
      <p:sp>
        <p:nvSpPr>
          <p:cNvPr id="26" name="risk-cell-2-1">
            <a:extLst xmlns:a="http://schemas.openxmlformats.org/drawingml/2006/main">
              <a:ext uri="{FF2B5EF4-FFF2-40B4-BE49-F238E27FC236}">
                <a16:creationId xmlns:a16="http://schemas.microsoft.com/office/drawing/2014/main" id="{3CADDF7C-9345-4738-9E4A-E1D302B7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05350"/>
            <a:ext cx="3124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risk-text-2-1">
            <a:extLst xmlns:a="http://schemas.openxmlformats.org/drawingml/2006/main">
              <a:ext uri="{FF2B5EF4-FFF2-40B4-BE49-F238E27FC236}">
                <a16:creationId xmlns:a16="http://schemas.microsoft.com/office/drawing/2014/main" id="{68D45791-54CD-4C50-88BA-9FC963F7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577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Customer, claims, underwriting, regulated advice</a:t>
            </a:r>
          </a:p>
        </p:txBody>
      </p:sp>
      <p:sp>
        <p:nvSpPr>
          <p:cNvPr id="28" name="risk-cell-2-2">
            <a:extLst xmlns:a="http://schemas.openxmlformats.org/drawingml/2006/main">
              <a:ext uri="{FF2B5EF4-FFF2-40B4-BE49-F238E27FC236}">
                <a16:creationId xmlns:a16="http://schemas.microsoft.com/office/drawing/2014/main" id="{082F441E-ABA0-421A-A02D-F53574D8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05350"/>
            <a:ext cx="5486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risk-text-2-2">
            <a:extLst xmlns:a="http://schemas.openxmlformats.org/drawingml/2006/main">
              <a:ext uri="{FF2B5EF4-FFF2-40B4-BE49-F238E27FC236}">
                <a16:creationId xmlns:a16="http://schemas.microsoft.com/office/drawing/2014/main" id="{DC7110A4-5658-4C22-9BC0-DD5E62D0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Human approval, explanations, audit replay, ongoing monitoring</a:t>
            </a:r>
          </a:p>
        </p:txBody>
      </p:sp>
    </p:spTree>
    <p:extLst>
      <p:ext uri="{BB962C8B-B14F-4D97-AF65-F5344CB8AC3E}">
        <p14:creationId xmlns:p14="http://schemas.microsoft.com/office/powerpoint/2010/main" val="19524055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eyebrow">
            <a:extLst xmlns:a="http://schemas.openxmlformats.org/drawingml/2006/main">
              <a:ext uri="{FF2B5EF4-FFF2-40B4-BE49-F238E27FC236}">
                <a16:creationId xmlns:a16="http://schemas.microsoft.com/office/drawing/2014/main" id="{E0501A7B-1FF3-40B1-97ED-44C95DCF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</a:defRPr>
            </a:pPr>
            <a:r>
              <a:rPr sz="1125" b="1">
                <a:solidFill>
                  <a:srgbClr val="5B6472"/>
                </a:solidFill>
              </a:rPr>
              <a:t>RESPONSIBLE AI CONTROLS ARCHITECTURE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34DEC24-234F-4919-8563-448DCD3B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Day 2 operations are where Responsible AI becomes real.</a:t>
            </a:r>
          </a:p>
        </p:txBody>
      </p:sp>
      <p:sp>
        <p:nvSpPr>
          <p:cNvPr id="3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ABFBB742-101A-47A8-9429-6C5E5343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Approval before launch is necessary; monitoring after launch is what keeps controls alive.</a:t>
            </a:r>
          </a:p>
        </p:txBody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E659B105-7F31-437D-BC8E-03CD575D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Responsible AI Controls Architecture  |  4/5</a:t>
            </a:r>
          </a:p>
        </p:txBody>
      </p:sp>
      <p:sp>
        <p:nvSpPr>
          <p:cNvPr id="5" name="ops-left">
            <a:extLst xmlns:a="http://schemas.openxmlformats.org/drawingml/2006/main">
              <a:ext uri="{FF2B5EF4-FFF2-40B4-BE49-F238E27FC236}">
                <a16:creationId xmlns:a16="http://schemas.microsoft.com/office/drawing/2014/main" id="{524F3C76-09E4-47C1-8809-2D44825A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ops-right">
            <a:extLst xmlns:a="http://schemas.openxmlformats.org/drawingml/2006/main">
              <a:ext uri="{FF2B5EF4-FFF2-40B4-BE49-F238E27FC236}">
                <a16:creationId xmlns:a16="http://schemas.microsoft.com/office/drawing/2014/main" id="{4D31A883-87E7-4ED1-98DD-AC0039B8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57500"/>
            <a:ext cx="476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ops-left-title">
            <a:extLst xmlns:a="http://schemas.openxmlformats.org/drawingml/2006/main">
              <a:ext uri="{FF2B5EF4-FFF2-40B4-BE49-F238E27FC236}">
                <a16:creationId xmlns:a16="http://schemas.microsoft.com/office/drawing/2014/main" id="{026EEE38-608B-42E8-9525-9C2E3EA9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Controls that run</a:t>
            </a:r>
          </a:p>
        </p:txBody>
      </p:sp>
      <p:sp>
        <p:nvSpPr>
          <p:cNvPr id="8" name="ops-right-title">
            <a:extLst xmlns:a="http://schemas.openxmlformats.org/drawingml/2006/main">
              <a:ext uri="{FF2B5EF4-FFF2-40B4-BE49-F238E27FC236}">
                <a16:creationId xmlns:a16="http://schemas.microsoft.com/office/drawing/2014/main" id="{818A91AB-7624-42B8-9EBF-34B28544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23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Signals that trigger action</a:t>
            </a:r>
          </a:p>
        </p:txBody>
      </p:sp>
      <p:sp>
        <p:nvSpPr>
          <p:cNvPr id="9" name="ops-left-bullets-dot-0">
            <a:extLst xmlns:a="http://schemas.openxmlformats.org/drawingml/2006/main">
              <a:ext uri="{FF2B5EF4-FFF2-40B4-BE49-F238E27FC236}">
                <a16:creationId xmlns:a16="http://schemas.microsoft.com/office/drawing/2014/main" id="{62875BE3-3CF3-47A1-A09F-F50308F3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ops-left-bullets-0">
            <a:extLst xmlns:a="http://schemas.openxmlformats.org/drawingml/2006/main">
              <a:ext uri="{FF2B5EF4-FFF2-40B4-BE49-F238E27FC236}">
                <a16:creationId xmlns:a16="http://schemas.microsoft.com/office/drawing/2014/main" id="{9D7E733E-FC8E-4563-B8B7-359B669B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909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Runtime guardrails</a:t>
            </a:r>
          </a:p>
        </p:txBody>
      </p:sp>
      <p:sp>
        <p:nvSpPr>
          <p:cNvPr id="11" name="ops-left-bullets-dot-1">
            <a:extLst xmlns:a="http://schemas.openxmlformats.org/drawingml/2006/main">
              <a:ext uri="{FF2B5EF4-FFF2-40B4-BE49-F238E27FC236}">
                <a16:creationId xmlns:a16="http://schemas.microsoft.com/office/drawing/2014/main" id="{9BC1537E-F083-4B57-8DC4-45E93131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2" name="ops-left-bullets-1">
            <a:extLst xmlns:a="http://schemas.openxmlformats.org/drawingml/2006/main">
              <a:ext uri="{FF2B5EF4-FFF2-40B4-BE49-F238E27FC236}">
                <a16:creationId xmlns:a16="http://schemas.microsoft.com/office/drawing/2014/main" id="{9A34A46B-A50D-45BF-8CBD-CDF8A695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Human-in-the-loop triggers</a:t>
            </a:r>
          </a:p>
        </p:txBody>
      </p:sp>
      <p:sp>
        <p:nvSpPr>
          <p:cNvPr id="13" name="ops-left-bullets-dot-2">
            <a:extLst xmlns:a="http://schemas.openxmlformats.org/drawingml/2006/main">
              <a:ext uri="{FF2B5EF4-FFF2-40B4-BE49-F238E27FC236}">
                <a16:creationId xmlns:a16="http://schemas.microsoft.com/office/drawing/2014/main" id="{877A25A2-B221-44F1-BBB2-4187A25C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4" name="ops-left-bullets-2">
            <a:extLst xmlns:a="http://schemas.openxmlformats.org/drawingml/2006/main">
              <a:ext uri="{FF2B5EF4-FFF2-40B4-BE49-F238E27FC236}">
                <a16:creationId xmlns:a16="http://schemas.microsoft.com/office/drawing/2014/main" id="{E6AB54F1-B92C-494A-8965-207AFD1F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Evidence capture</a:t>
            </a:r>
          </a:p>
        </p:txBody>
      </p:sp>
      <p:sp>
        <p:nvSpPr>
          <p:cNvPr id="15" name="ops-left-bullets-dot-3">
            <a:extLst xmlns:a="http://schemas.openxmlformats.org/drawingml/2006/main">
              <a:ext uri="{FF2B5EF4-FFF2-40B4-BE49-F238E27FC236}">
                <a16:creationId xmlns:a16="http://schemas.microsoft.com/office/drawing/2014/main" id="{DC83AF8A-1AFE-4FBA-B340-51AC6266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ops-left-bullets-3">
            <a:extLst xmlns:a="http://schemas.openxmlformats.org/drawingml/2006/main">
              <a:ext uri="{FF2B5EF4-FFF2-40B4-BE49-F238E27FC236}">
                <a16:creationId xmlns:a16="http://schemas.microsoft.com/office/drawing/2014/main" id="{25449CB5-9CD3-4A6E-B6BE-6784110D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Exception handling</a:t>
            </a:r>
          </a:p>
        </p:txBody>
      </p:sp>
      <p:sp>
        <p:nvSpPr>
          <p:cNvPr id="17" name="ops-left-bullets-dot-4">
            <a:extLst xmlns:a="http://schemas.openxmlformats.org/drawingml/2006/main">
              <a:ext uri="{FF2B5EF4-FFF2-40B4-BE49-F238E27FC236}">
                <a16:creationId xmlns:a16="http://schemas.microsoft.com/office/drawing/2014/main" id="{12C5B3A9-B4DC-4DFA-A32F-7EEB6142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86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ops-left-bullets-4">
            <a:extLst xmlns:a="http://schemas.openxmlformats.org/drawingml/2006/main">
              <a:ext uri="{FF2B5EF4-FFF2-40B4-BE49-F238E27FC236}">
                <a16:creationId xmlns:a16="http://schemas.microsoft.com/office/drawing/2014/main" id="{FAF792E0-919F-49E2-930A-68920813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863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Control telemetry</a:t>
            </a:r>
          </a:p>
        </p:txBody>
      </p:sp>
      <p:sp>
        <p:nvSpPr>
          <p:cNvPr id="19" name="ops-right-bullets-dot-0">
            <a:extLst xmlns:a="http://schemas.openxmlformats.org/drawingml/2006/main">
              <a:ext uri="{FF2B5EF4-FFF2-40B4-BE49-F238E27FC236}">
                <a16:creationId xmlns:a16="http://schemas.microsoft.com/office/drawing/2014/main" id="{54B37829-8FD8-4A90-B3E2-646D9B37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909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ops-right-bullets-0">
            <a:extLst xmlns:a="http://schemas.openxmlformats.org/drawingml/2006/main">
              <a:ext uri="{FF2B5EF4-FFF2-40B4-BE49-F238E27FC236}">
                <a16:creationId xmlns:a16="http://schemas.microsoft.com/office/drawing/2014/main" id="{B13E09F3-A91B-423F-B4BC-FA8F1919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909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Quality drift</a:t>
            </a:r>
          </a:p>
        </p:txBody>
      </p:sp>
      <p:sp>
        <p:nvSpPr>
          <p:cNvPr id="21" name="ops-right-bullets-dot-1">
            <a:extLst xmlns:a="http://schemas.openxmlformats.org/drawingml/2006/main">
              <a:ext uri="{FF2B5EF4-FFF2-40B4-BE49-F238E27FC236}">
                <a16:creationId xmlns:a16="http://schemas.microsoft.com/office/drawing/2014/main" id="{F9F2BA5D-BE8B-4A0E-9C77-9224AC47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14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2" name="ops-right-bullets-1">
            <a:extLst xmlns:a="http://schemas.openxmlformats.org/drawingml/2006/main">
              <a:ext uri="{FF2B5EF4-FFF2-40B4-BE49-F238E27FC236}">
                <a16:creationId xmlns:a16="http://schemas.microsoft.com/office/drawing/2014/main" id="{0CFED419-1B56-4032-8E07-C5F1728A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148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Unsafe output</a:t>
            </a:r>
          </a:p>
        </p:txBody>
      </p:sp>
      <p:sp>
        <p:nvSpPr>
          <p:cNvPr id="23" name="ops-right-bullets-dot-2">
            <a:extLst xmlns:a="http://schemas.openxmlformats.org/drawingml/2006/main">
              <a:ext uri="{FF2B5EF4-FFF2-40B4-BE49-F238E27FC236}">
                <a16:creationId xmlns:a16="http://schemas.microsoft.com/office/drawing/2014/main" id="{367C74D3-50FD-4075-BE71-328677B4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38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4" name="ops-right-bullets-2">
            <a:extLst xmlns:a="http://schemas.openxmlformats.org/drawingml/2006/main">
              <a:ext uri="{FF2B5EF4-FFF2-40B4-BE49-F238E27FC236}">
                <a16:creationId xmlns:a16="http://schemas.microsoft.com/office/drawing/2014/main" id="{4CDE1D83-2EDA-4329-935D-8399FDAF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386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Control bypass</a:t>
            </a:r>
          </a:p>
        </p:txBody>
      </p:sp>
      <p:sp>
        <p:nvSpPr>
          <p:cNvPr id="25" name="ops-right-bullets-dot-3">
            <a:extLst xmlns:a="http://schemas.openxmlformats.org/drawingml/2006/main">
              <a:ext uri="{FF2B5EF4-FFF2-40B4-BE49-F238E27FC236}">
                <a16:creationId xmlns:a16="http://schemas.microsoft.com/office/drawing/2014/main" id="{BFAC9080-E5FF-4473-A6FD-E5C805C0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62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6" name="ops-right-bullets-3">
            <a:extLst xmlns:a="http://schemas.openxmlformats.org/drawingml/2006/main">
              <a:ext uri="{FF2B5EF4-FFF2-40B4-BE49-F238E27FC236}">
                <a16:creationId xmlns:a16="http://schemas.microsoft.com/office/drawing/2014/main" id="{8C597E10-8E42-4090-9D43-6AA0D6BA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625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Vendor/model changes</a:t>
            </a:r>
          </a:p>
        </p:txBody>
      </p:sp>
      <p:sp>
        <p:nvSpPr>
          <p:cNvPr id="27" name="ops-right-bullets-dot-4">
            <a:extLst xmlns:a="http://schemas.openxmlformats.org/drawingml/2006/main">
              <a:ext uri="{FF2B5EF4-FFF2-40B4-BE49-F238E27FC236}">
                <a16:creationId xmlns:a16="http://schemas.microsoft.com/office/drawing/2014/main" id="{946F1308-FDFB-419C-9DFA-1A0C9FA5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86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8" name="ops-right-bullets-4">
            <a:extLst xmlns:a="http://schemas.openxmlformats.org/drawingml/2006/main">
              <a:ext uri="{FF2B5EF4-FFF2-40B4-BE49-F238E27FC236}">
                <a16:creationId xmlns:a16="http://schemas.microsoft.com/office/drawing/2014/main" id="{6B9D40ED-CD73-41DB-BB79-B5F48330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863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Operational incidents</a:t>
            </a:r>
          </a:p>
        </p:txBody>
      </p:sp>
      <p:sp>
        <p:nvSpPr>
          <p:cNvPr id="29" name="ops-center-arrow">
            <a:extLst xmlns:a="http://schemas.openxmlformats.org/drawingml/2006/main">
              <a:ext uri="{FF2B5EF4-FFF2-40B4-BE49-F238E27FC236}">
                <a16:creationId xmlns:a16="http://schemas.microsoft.com/office/drawing/2014/main" id="{F811635A-9F9F-4D86-8177-EAA6854C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57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6539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eyebrow">
            <a:extLst xmlns:a="http://schemas.openxmlformats.org/drawingml/2006/main">
              <a:ext uri="{FF2B5EF4-FFF2-40B4-BE49-F238E27FC236}">
                <a16:creationId xmlns:a16="http://schemas.microsoft.com/office/drawing/2014/main" id="{5FD9168E-DEE2-4CF4-A93E-2389F159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</a:defRPr>
            </a:pPr>
            <a:r>
              <a:rPr sz="1125" b="1">
                <a:solidFill>
                  <a:srgbClr val="5B6472"/>
                </a:solidFill>
              </a:rPr>
              <a:t>RESPONSIBLE AI CONTROLS ARCHITECTURE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3F9AF68-C5A8-4142-8B14-3DF400FE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Start with one high-impact use case and prove the operating model.</a:t>
            </a:r>
          </a:p>
        </p:txBody>
      </p:sp>
      <p:sp>
        <p:nvSpPr>
          <p:cNvPr id="3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967995FF-663F-4AFF-9ED4-B77C36E8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The fastest path is not enterprise-wide abstraction. It is a focused control sprint that creates reusable evidence.</a:t>
            </a:r>
          </a:p>
        </p:txBody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B23CF426-3A49-4291-AE19-A23A2E2D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Responsible AI Controls Architecture  |  5/5</a:t>
            </a:r>
          </a:p>
        </p:txBody>
      </p:sp>
      <p:sp>
        <p:nvSpPr>
          <p:cNvPr id="5" name="start-step-0">
            <a:extLst xmlns:a="http://schemas.openxmlformats.org/drawingml/2006/main">
              <a:ext uri="{FF2B5EF4-FFF2-40B4-BE49-F238E27FC236}">
                <a16:creationId xmlns:a16="http://schemas.microsoft.com/office/drawing/2014/main" id="{513E930E-97EA-4D13-BDF9-FB17ADAA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start-num-0">
            <a:extLst xmlns:a="http://schemas.openxmlformats.org/drawingml/2006/main">
              <a:ext uri="{FF2B5EF4-FFF2-40B4-BE49-F238E27FC236}">
                <a16:creationId xmlns:a16="http://schemas.microsoft.com/office/drawing/2014/main" id="{2E670748-EED6-4E78-9B25-AE09C231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7" name="start-title-0">
            <a:extLst xmlns:a="http://schemas.openxmlformats.org/drawingml/2006/main">
              <a:ext uri="{FF2B5EF4-FFF2-40B4-BE49-F238E27FC236}">
                <a16:creationId xmlns:a16="http://schemas.microsoft.com/office/drawing/2014/main" id="{4075E9EF-883B-499F-901F-022F0073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765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Scan</a:t>
            </a:r>
          </a:p>
        </p:txBody>
      </p:sp>
      <p:sp>
        <p:nvSpPr>
          <p:cNvPr id="8" name="start-copy-0">
            <a:extLst xmlns:a="http://schemas.openxmlformats.org/drawingml/2006/main">
              <a:ext uri="{FF2B5EF4-FFF2-40B4-BE49-F238E27FC236}">
                <a16:creationId xmlns:a16="http://schemas.microsoft.com/office/drawing/2014/main" id="{53577168-1547-423C-9E94-3D1FE891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194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Identify use cases, governance flow, evidence gaps, and current bottlenecks.</a:t>
            </a:r>
          </a:p>
        </p:txBody>
      </p:sp>
      <p:sp>
        <p:nvSpPr>
          <p:cNvPr id="9" name="start-step-1">
            <a:extLst xmlns:a="http://schemas.openxmlformats.org/drawingml/2006/main">
              <a:ext uri="{FF2B5EF4-FFF2-40B4-BE49-F238E27FC236}">
                <a16:creationId xmlns:a16="http://schemas.microsoft.com/office/drawing/2014/main" id="{D4F4858B-307F-4FBD-8754-3D851C73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tart-num-1">
            <a:extLst xmlns:a="http://schemas.openxmlformats.org/drawingml/2006/main">
              <a:ext uri="{FF2B5EF4-FFF2-40B4-BE49-F238E27FC236}">
                <a16:creationId xmlns:a16="http://schemas.microsoft.com/office/drawing/2014/main" id="{8BF3885F-F562-44D3-AE31-5D9FEB76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1" name="start-title-1">
            <a:extLst xmlns:a="http://schemas.openxmlformats.org/drawingml/2006/main">
              <a:ext uri="{FF2B5EF4-FFF2-40B4-BE49-F238E27FC236}">
                <a16:creationId xmlns:a16="http://schemas.microsoft.com/office/drawing/2014/main" id="{931663E8-09D9-4F11-AB6F-CA684E8C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765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Tier</a:t>
            </a:r>
          </a:p>
        </p:txBody>
      </p:sp>
      <p:sp>
        <p:nvSpPr>
          <p:cNvPr id="12" name="start-copy-1">
            <a:extLst xmlns:a="http://schemas.openxmlformats.org/drawingml/2006/main">
              <a:ext uri="{FF2B5EF4-FFF2-40B4-BE49-F238E27FC236}">
                <a16:creationId xmlns:a16="http://schemas.microsoft.com/office/drawing/2014/main" id="{CC2903F5-8433-443B-AB78-5FB5311D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194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Classify consequence of error and define AI decision boundaries.</a:t>
            </a:r>
          </a:p>
        </p:txBody>
      </p:sp>
      <p:sp>
        <p:nvSpPr>
          <p:cNvPr id="13" name="start-step-2">
            <a:extLst xmlns:a="http://schemas.openxmlformats.org/drawingml/2006/main">
              <a:ext uri="{FF2B5EF4-FFF2-40B4-BE49-F238E27FC236}">
                <a16:creationId xmlns:a16="http://schemas.microsoft.com/office/drawing/2014/main" id="{652BDC00-1445-475E-870C-FBFF0C30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tart-num-2">
            <a:extLst xmlns:a="http://schemas.openxmlformats.org/drawingml/2006/main">
              <a:ext uri="{FF2B5EF4-FFF2-40B4-BE49-F238E27FC236}">
                <a16:creationId xmlns:a16="http://schemas.microsoft.com/office/drawing/2014/main" id="{07E0F57C-3BD3-4D2F-81C8-F7D77576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5" name="start-title-2">
            <a:extLst xmlns:a="http://schemas.openxmlformats.org/drawingml/2006/main">
              <a:ext uri="{FF2B5EF4-FFF2-40B4-BE49-F238E27FC236}">
                <a16:creationId xmlns:a16="http://schemas.microsoft.com/office/drawing/2014/main" id="{9FAA2AEE-9AAA-4118-B13B-1EB91F8B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57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Design</a:t>
            </a:r>
          </a:p>
        </p:txBody>
      </p:sp>
      <p:sp>
        <p:nvSpPr>
          <p:cNvPr id="16" name="start-copy-2">
            <a:extLst xmlns:a="http://schemas.openxmlformats.org/drawingml/2006/main">
              <a:ext uri="{FF2B5EF4-FFF2-40B4-BE49-F238E27FC236}">
                <a16:creationId xmlns:a16="http://schemas.microsoft.com/office/drawing/2014/main" id="{F2FB39D8-315C-4832-8CC9-49F159FA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006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Map controls, HITL triggers, validation, evidence, ownership, and monitoring.</a:t>
            </a:r>
          </a:p>
        </p:txBody>
      </p:sp>
      <p:sp>
        <p:nvSpPr>
          <p:cNvPr id="17" name="start-step-3">
            <a:extLst xmlns:a="http://schemas.openxmlformats.org/drawingml/2006/main">
              <a:ext uri="{FF2B5EF4-FFF2-40B4-BE49-F238E27FC236}">
                <a16:creationId xmlns:a16="http://schemas.microsoft.com/office/drawing/2014/main" id="{8AFBDFD6-9E4B-406E-86A2-5779101D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86250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start-num-3">
            <a:extLst xmlns:a="http://schemas.openxmlformats.org/drawingml/2006/main">
              <a:ext uri="{FF2B5EF4-FFF2-40B4-BE49-F238E27FC236}">
                <a16:creationId xmlns:a16="http://schemas.microsoft.com/office/drawing/2014/main" id="{AEB1DEA1-532C-46B2-B7F6-4B2F134B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9" name="start-title-3">
            <a:extLst xmlns:a="http://schemas.openxmlformats.org/drawingml/2006/main">
              <a:ext uri="{FF2B5EF4-FFF2-40B4-BE49-F238E27FC236}">
                <a16:creationId xmlns:a16="http://schemas.microsoft.com/office/drawing/2014/main" id="{6BE57EEA-A4F0-4288-AE7C-F74EC0B3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57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Operate</a:t>
            </a:r>
          </a:p>
        </p:txBody>
      </p:sp>
      <p:sp>
        <p:nvSpPr>
          <p:cNvPr id="20" name="start-copy-3">
            <a:extLst xmlns:a="http://schemas.openxmlformats.org/drawingml/2006/main">
              <a:ext uri="{FF2B5EF4-FFF2-40B4-BE49-F238E27FC236}">
                <a16:creationId xmlns:a16="http://schemas.microsoft.com/office/drawing/2014/main" id="{03A1F6B4-97BC-42D6-82CA-4846DB94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Run a Day 2 cadence: incidents, exceptions, telemetry, vendor change, and improvement.</a:t>
            </a:r>
          </a:p>
        </p:txBody>
      </p:sp>
      <p:sp>
        <p:nvSpPr>
          <p:cNvPr id="21" name="close-line">
            <a:extLst xmlns:a="http://schemas.openxmlformats.org/drawingml/2006/main">
              <a:ext uri="{FF2B5EF4-FFF2-40B4-BE49-F238E27FC236}">
                <a16:creationId xmlns:a16="http://schemas.microsoft.com/office/drawing/2014/main" id="{8CC5AF44-B68C-4C0F-B567-707C6BEC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Responsible AI becomes credible when it can be enforced, monitored, and evidenced.</a:t>
            </a:r>
          </a:p>
        </p:txBody>
      </p:sp>
    </p:spTree>
    <p:extLst>
      <p:ext uri="{BB962C8B-B14F-4D97-AF65-F5344CB8AC3E}">
        <p14:creationId xmlns:p14="http://schemas.microsoft.com/office/powerpoint/2010/main" val="1565084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2026-07-14T10:52:19.5120000Z</dcterms:created>
  <dcterms:modified xsi:type="dcterms:W3CDTF">2026-07-14T10:52:19.5120000Z</dcterms:modified>
</coreProperties>
</file>